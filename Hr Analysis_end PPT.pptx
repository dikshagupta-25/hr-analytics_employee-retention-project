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60" r:id="rId2"/>
    <p:sldId id="264" r:id="rId3"/>
    <p:sldId id="266" r:id="rId4"/>
    <p:sldId id="274" r:id="rId5"/>
    <p:sldId id="262" r:id="rId6"/>
    <p:sldId id="256" r:id="rId7"/>
    <p:sldId id="263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5" r:id="rId16"/>
    <p:sldId id="27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C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3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1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3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0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0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8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1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38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8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824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71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39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5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DE525-0E3A-4959-84A1-0D30E91FDEB1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DD9F3F-4D66-4DB8-A510-4E34219F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14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6261-7301-48E8-4979-27DA1A8E9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953" y="648315"/>
            <a:ext cx="8142050" cy="673009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masis MT Pro" panose="02040504050005020304" pitchFamily="18" charset="0"/>
              </a:rPr>
              <a:t>HR ANALYSIS – EMPLOYEE 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0A32B-8AFD-1F29-7E81-A0D52487C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3848" y="2289438"/>
            <a:ext cx="4218260" cy="410507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GROUP IV :-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Diksha Gupta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Nandini Gupta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Prakruti Pandya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Priyanka R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Suchitra K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Subhadip Ghosh</a:t>
            </a:r>
          </a:p>
          <a:p>
            <a:pPr algn="ctr"/>
            <a:r>
              <a:rPr lang="en-US" sz="24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" panose="02040504050005020304" pitchFamily="18" charset="0"/>
              </a:rPr>
              <a:t>Bayisetti Bala Manikanta</a:t>
            </a:r>
          </a:p>
          <a:p>
            <a:pPr algn="l"/>
            <a:endParaRPr lang="en-US" sz="2400" dirty="0">
              <a:ln w="0"/>
              <a:solidFill>
                <a:schemeClr val="accent2">
                  <a:lumMod val="75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masis MT Pro" panose="020405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A5858-DCA3-3960-0274-39E2E9A912E1}"/>
              </a:ext>
            </a:extLst>
          </p:cNvPr>
          <p:cNvSpPr txBox="1"/>
          <p:nvPr/>
        </p:nvSpPr>
        <p:spPr>
          <a:xfrm>
            <a:off x="3180945" y="1605326"/>
            <a:ext cx="451717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Using Excel, Power BI, Tableau, MySQL</a:t>
            </a:r>
          </a:p>
        </p:txBody>
      </p:sp>
    </p:spTree>
    <p:extLst>
      <p:ext uri="{BB962C8B-B14F-4D97-AF65-F5344CB8AC3E}">
        <p14:creationId xmlns:p14="http://schemas.microsoft.com/office/powerpoint/2010/main" val="3078875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C516-5C4B-5CC8-07BB-19D25575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121" y="111873"/>
            <a:ext cx="3425757" cy="530152"/>
          </a:xfr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masis MT Pro" panose="02040504050005020304" pitchFamily="18" charset="0"/>
                <a:ea typeface="+mn-ea"/>
                <a:cs typeface="+mn-cs"/>
              </a:rPr>
              <a:t>OBJECTIVE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804F331-E8DC-0BD3-1064-4179B50CFD6A}"/>
              </a:ext>
            </a:extLst>
          </p:cNvPr>
          <p:cNvSpPr/>
          <p:nvPr/>
        </p:nvSpPr>
        <p:spPr>
          <a:xfrm>
            <a:off x="0" y="924129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Identify key factors influencing employee attrition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CB8CBA6-4275-260A-FF76-AAF3DAD76E01}"/>
              </a:ext>
            </a:extLst>
          </p:cNvPr>
          <p:cNvSpPr/>
          <p:nvPr/>
        </p:nvSpPr>
        <p:spPr>
          <a:xfrm>
            <a:off x="0" y="5826865"/>
            <a:ext cx="5505856" cy="943583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Analyze retention trends across departments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53C76A49-A607-94C5-FC9D-B942E3AF6D8D}"/>
              </a:ext>
            </a:extLst>
          </p:cNvPr>
          <p:cNvSpPr/>
          <p:nvPr/>
        </p:nvSpPr>
        <p:spPr>
          <a:xfrm>
            <a:off x="0" y="2149812"/>
            <a:ext cx="5505858" cy="943583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Understand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employee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behavior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and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satisfaction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patterns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3B5CDA5-9F6F-8ADA-DA9F-58C94BC03198}"/>
              </a:ext>
            </a:extLst>
          </p:cNvPr>
          <p:cNvSpPr/>
          <p:nvPr/>
        </p:nvSpPr>
        <p:spPr>
          <a:xfrm>
            <a:off x="0" y="3375496"/>
            <a:ext cx="5505857" cy="943583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Evaluate the effectiveness of promotion cycles and career progression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1EB7B9B-A39B-6606-EF3C-F710CFC7DCBD}"/>
              </a:ext>
            </a:extLst>
          </p:cNvPr>
          <p:cNvSpPr/>
          <p:nvPr/>
        </p:nvSpPr>
        <p:spPr>
          <a:xfrm>
            <a:off x="0" y="4601180"/>
            <a:ext cx="5505857" cy="943583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Measure the impact of monthly income, performance ratings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39DA9A3-FF7A-36CB-EB0A-16FA7E981C98}"/>
              </a:ext>
            </a:extLst>
          </p:cNvPr>
          <p:cNvSpPr/>
          <p:nvPr/>
        </p:nvSpPr>
        <p:spPr>
          <a:xfrm flipH="1">
            <a:off x="6686145" y="924129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Highlight workforce strengths and gaps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1C760DA-DB87-660D-4C1A-6BAA5E3C268F}"/>
              </a:ext>
            </a:extLst>
          </p:cNvPr>
          <p:cNvSpPr/>
          <p:nvPr/>
        </p:nvSpPr>
        <p:spPr>
          <a:xfrm flipH="1">
            <a:off x="6686142" y="2149812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Develop predictive insights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33FF4796-3E9D-299A-4428-736C9E621F90}"/>
              </a:ext>
            </a:extLst>
          </p:cNvPr>
          <p:cNvSpPr/>
          <p:nvPr/>
        </p:nvSpPr>
        <p:spPr>
          <a:xfrm flipH="1">
            <a:off x="6686143" y="3375496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  <a:cs typeface="Angsana New" panose="020B0502040204020203" pitchFamily="18" charset="-34"/>
              </a:rPr>
              <a:t>Provide HR teams with actionable insights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29BBCB3-A0EF-89D6-EC9A-116F0C8B8DA3}"/>
              </a:ext>
            </a:extLst>
          </p:cNvPr>
          <p:cNvSpPr/>
          <p:nvPr/>
        </p:nvSpPr>
        <p:spPr>
          <a:xfrm flipH="1">
            <a:off x="6686145" y="4601181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Support strategic planning 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1ED53C2-1B49-25FB-2237-D4D87005E2E1}"/>
              </a:ext>
            </a:extLst>
          </p:cNvPr>
          <p:cNvSpPr/>
          <p:nvPr/>
        </p:nvSpPr>
        <p:spPr>
          <a:xfrm flipH="1">
            <a:off x="6686144" y="5826866"/>
            <a:ext cx="5505855" cy="943582"/>
          </a:xfrm>
          <a:prstGeom prst="homePlat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Build interactive dashboards</a:t>
            </a:r>
            <a:endParaRPr lang="en-US" sz="2000" b="1" dirty="0">
              <a:solidFill>
                <a:schemeClr val="tx1"/>
              </a:solidFill>
              <a:latin typeface="Amasis MT Pro" panose="02040504050005020304" pitchFamily="18" charset="0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05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133C4E-47FC-63F1-71D3-B5142D49D9DC}"/>
              </a:ext>
            </a:extLst>
          </p:cNvPr>
          <p:cNvSpPr txBox="1">
            <a:spLocks/>
          </p:cNvSpPr>
          <p:nvPr/>
        </p:nvSpPr>
        <p:spPr>
          <a:xfrm>
            <a:off x="4914089" y="184833"/>
            <a:ext cx="2363822" cy="67120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rnd" cmpd="sng" algn="ctr">
            <a:noFill/>
            <a:prstDash val="solid"/>
          </a:ln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Amasis MT Pro" panose="02040504050005020304" pitchFamily="18" charset="0"/>
              </a:rPr>
              <a:t>KPI’s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85F7F0-958D-97D1-BF7F-D6F26A020616}"/>
              </a:ext>
            </a:extLst>
          </p:cNvPr>
          <p:cNvSpPr/>
          <p:nvPr/>
        </p:nvSpPr>
        <p:spPr>
          <a:xfrm>
            <a:off x="661480" y="1416997"/>
            <a:ext cx="3540869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Total Employees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50000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1930CA-939B-DD8D-B82B-304A929474C3}"/>
              </a:ext>
            </a:extLst>
          </p:cNvPr>
          <p:cNvSpPr/>
          <p:nvPr/>
        </p:nvSpPr>
        <p:spPr>
          <a:xfrm>
            <a:off x="4367718" y="1416997"/>
            <a:ext cx="3538728" cy="13456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Active Employees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24895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F279D5-ED70-51DD-29C0-ECD36A3B62B9}"/>
              </a:ext>
            </a:extLst>
          </p:cNvPr>
          <p:cNvSpPr/>
          <p:nvPr/>
        </p:nvSpPr>
        <p:spPr>
          <a:xfrm>
            <a:off x="8071815" y="1416997"/>
            <a:ext cx="3538728" cy="134416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Attrition Rate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50.21%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0EABC0-DA39-BF38-8B65-14FAD62DD0F4}"/>
              </a:ext>
            </a:extLst>
          </p:cNvPr>
          <p:cNvSpPr/>
          <p:nvPr/>
        </p:nvSpPr>
        <p:spPr>
          <a:xfrm>
            <a:off x="661480" y="3106366"/>
            <a:ext cx="3540869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Average Hourly Rate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114.45</a:t>
            </a:r>
            <a:r>
              <a:rPr lang="en-US" b="1" dirty="0">
                <a:solidFill>
                  <a:schemeClr val="tx1"/>
                </a:solidFill>
              </a:rPr>
              <a:t> Rs/Hour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D4DAF2-80AC-1651-A890-216FF5F2AC2C}"/>
              </a:ext>
            </a:extLst>
          </p:cNvPr>
          <p:cNvSpPr/>
          <p:nvPr/>
        </p:nvSpPr>
        <p:spPr>
          <a:xfrm>
            <a:off x="4367718" y="3106365"/>
            <a:ext cx="3538728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Average Salary Hike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24.62%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E0F35F-07B6-077A-AF2C-51F0CD7F24D6}"/>
              </a:ext>
            </a:extLst>
          </p:cNvPr>
          <p:cNvSpPr/>
          <p:nvPr/>
        </p:nvSpPr>
        <p:spPr>
          <a:xfrm>
            <a:off x="8071815" y="3106364"/>
            <a:ext cx="3538728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Avg Job Satisfaction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2.49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2ED09E-A6A6-0A36-155A-5A81F968F6C5}"/>
              </a:ext>
            </a:extLst>
          </p:cNvPr>
          <p:cNvSpPr/>
          <p:nvPr/>
        </p:nvSpPr>
        <p:spPr>
          <a:xfrm>
            <a:off x="663621" y="4902738"/>
            <a:ext cx="3538728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Average Salary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₹ 26016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F1AAFF-E4E8-04F2-DABB-3B9D1C8E4B95}"/>
              </a:ext>
            </a:extLst>
          </p:cNvPr>
          <p:cNvSpPr/>
          <p:nvPr/>
        </p:nvSpPr>
        <p:spPr>
          <a:xfrm>
            <a:off x="4367717" y="4902737"/>
            <a:ext cx="3538728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Average Age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39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5E728A4-614F-5462-F2DF-6913E0763054}"/>
              </a:ext>
            </a:extLst>
          </p:cNvPr>
          <p:cNvSpPr/>
          <p:nvPr/>
        </p:nvSpPr>
        <p:spPr>
          <a:xfrm>
            <a:off x="8071814" y="4795736"/>
            <a:ext cx="3538728" cy="13456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Average Daily Rate 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₹ 794.28</a:t>
            </a:r>
          </a:p>
        </p:txBody>
      </p:sp>
    </p:spTree>
    <p:extLst>
      <p:ext uri="{BB962C8B-B14F-4D97-AF65-F5344CB8AC3E}">
        <p14:creationId xmlns:p14="http://schemas.microsoft.com/office/powerpoint/2010/main" val="46509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466A-CA20-CF0A-4993-26D69B3F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6E00-E11F-0B8F-5B9D-F4B26ABA3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315" y="2003896"/>
            <a:ext cx="6732260" cy="1789889"/>
          </a:xfrm>
          <a:prstGeom prst="rightArrow">
            <a:avLst/>
          </a:prstGeom>
          <a:ln>
            <a:noFill/>
          </a:ln>
          <a:effectLst>
            <a:outerShdw blurRad="393700" dist="304800" dir="8460000" sx="103000" sy="103000" algn="ctr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masis MT Pro" panose="02040504050005020304" pitchFamily="18" charset="0"/>
              </a:rPr>
              <a:t>EXCEL DASHBOARD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91A1CA-1D22-3621-22E9-AD2667835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7" t="17147" r="10240" b="14166"/>
          <a:stretch>
            <a:fillRect/>
          </a:stretch>
        </p:blipFill>
        <p:spPr>
          <a:xfrm>
            <a:off x="0" y="0"/>
            <a:ext cx="1219173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7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1C0F-DEFA-FF75-54E5-E38E71A4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429528-1E44-B785-143C-AE54F81F3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502" y="1945531"/>
            <a:ext cx="7576028" cy="1789889"/>
          </a:xfrm>
          <a:prstGeom prst="rightArrow">
            <a:avLst/>
          </a:prstGeom>
          <a:ln>
            <a:noFill/>
          </a:ln>
          <a:effectLst>
            <a:outerShdw blurRad="393700" dist="304800" dir="8460000" sx="103000" sy="103000" algn="ctr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masis MT Pro" panose="02040504050005020304" pitchFamily="18" charset="0"/>
              </a:rPr>
              <a:t>POWER BI DASHBOARD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04B8C-F3F6-4D0A-3D1E-49A87AB63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2" t="14450" r="16463" b="14026"/>
          <a:stretch>
            <a:fillRect/>
          </a:stretch>
        </p:blipFill>
        <p:spPr>
          <a:xfrm>
            <a:off x="0" y="-1"/>
            <a:ext cx="12199799" cy="6862390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25036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48BF-D93D-3428-FD85-DFFDEEE6E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AFB3E-A2FC-5E4D-6782-3C36F2495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891367-22DF-06C0-D5C1-DBDB8789C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7" t="14754" r="16675" b="140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73599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0CFA2-ACD0-9D17-3759-BEC46407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68D8805-DA8B-BA41-29B7-B361F5838B34}"/>
              </a:ext>
            </a:extLst>
          </p:cNvPr>
          <p:cNvSpPr txBox="1">
            <a:spLocks/>
          </p:cNvSpPr>
          <p:nvPr/>
        </p:nvSpPr>
        <p:spPr>
          <a:xfrm>
            <a:off x="749030" y="1945531"/>
            <a:ext cx="7558391" cy="1789889"/>
          </a:xfrm>
          <a:prstGeom prst="rightArrow">
            <a:avLst/>
          </a:prstGeom>
          <a:ln w="12700" cap="rnd" cmpd="sng" algn="ctr">
            <a:noFill/>
            <a:prstDash val="solid"/>
          </a:ln>
          <a:effectLst>
            <a:outerShdw blurRad="393700" dist="304800" dir="8460000" sx="103000" sy="103000" algn="ctr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masis MT Pro" panose="02040504050005020304" pitchFamily="18" charset="0"/>
              </a:rPr>
              <a:t> TABLEAU DASHBOARD</a:t>
            </a:r>
          </a:p>
        </p:txBody>
      </p:sp>
      <p:pic>
        <p:nvPicPr>
          <p:cNvPr id="6" name="Picture 5" descr="A close-up of a data report&#10;&#10;AI-generated content may be incorrect.">
            <a:extLst>
              <a:ext uri="{FF2B5EF4-FFF2-40B4-BE49-F238E27FC236}">
                <a16:creationId xmlns:a16="http://schemas.microsoft.com/office/drawing/2014/main" id="{E5478272-7AEA-AF85-6D86-EE2D4DD5C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5145" r="1223" b="11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9147D-8354-822D-EFA4-4E671F66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F3B46B-51CD-3D1C-BCBC-E4B1A52A5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1796" y="1945531"/>
            <a:ext cx="6001966" cy="1789889"/>
          </a:xfrm>
          <a:prstGeom prst="rightArrow">
            <a:avLst/>
          </a:prstGeom>
          <a:ln>
            <a:noFill/>
          </a:ln>
          <a:effectLst>
            <a:outerShdw blurRad="393700" dist="304800" dir="8460000" sx="103000" sy="103000" algn="ctr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masis MT Pro" panose="02040504050005020304" pitchFamily="18" charset="0"/>
              </a:rPr>
              <a:t> MYSQL SCRIPT</a:t>
            </a:r>
          </a:p>
        </p:txBody>
      </p:sp>
    </p:spTree>
    <p:extLst>
      <p:ext uri="{BB962C8B-B14F-4D97-AF65-F5344CB8AC3E}">
        <p14:creationId xmlns:p14="http://schemas.microsoft.com/office/powerpoint/2010/main" val="314558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1F46A-B89D-EA39-6AA4-6FDF2CEF5624}"/>
              </a:ext>
            </a:extLst>
          </p:cNvPr>
          <p:cNvSpPr txBox="1"/>
          <p:nvPr/>
        </p:nvSpPr>
        <p:spPr>
          <a:xfrm>
            <a:off x="486385" y="1487010"/>
            <a:ext cx="4941650" cy="1477328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Department,       CONCAT(ROUND(AVG(CASE WHEN Attrition = 'Yes' THEN 1.0 ELSE 0.0 END) * 100, 2), ' %')  as Attrition_Rate FROM employeedata GROUP BY Department order by Attrition_Rate desc;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9D4623-894B-A15C-7D29-5939C45FB684}"/>
              </a:ext>
            </a:extLst>
          </p:cNvPr>
          <p:cNvGrpSpPr/>
          <p:nvPr/>
        </p:nvGrpSpPr>
        <p:grpSpPr>
          <a:xfrm>
            <a:off x="711383" y="3814773"/>
            <a:ext cx="4056435" cy="2373549"/>
            <a:chOff x="642025" y="2986391"/>
            <a:chExt cx="4056435" cy="23735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4627557-31C5-AB2D-1185-C0227688DB74}"/>
                </a:ext>
              </a:extLst>
            </p:cNvPr>
            <p:cNvSpPr/>
            <p:nvPr/>
          </p:nvSpPr>
          <p:spPr>
            <a:xfrm>
              <a:off x="642025" y="2986391"/>
              <a:ext cx="4056435" cy="2373549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4F0DDF4-3B5A-7E36-CC8C-72335982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5" t="50924" r="62022" b="32474"/>
            <a:stretch>
              <a:fillRect/>
            </a:stretch>
          </p:blipFill>
          <p:spPr>
            <a:xfrm>
              <a:off x="836580" y="3170583"/>
              <a:ext cx="3647872" cy="192244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7B24A59-E550-4790-AE7F-FD15D3F1D680}"/>
              </a:ext>
            </a:extLst>
          </p:cNvPr>
          <p:cNvSpPr txBox="1"/>
          <p:nvPr/>
        </p:nvSpPr>
        <p:spPr>
          <a:xfrm>
            <a:off x="486383" y="44492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1. Average Attrition rate for all Departments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CEFD07-BCEF-89E7-46D9-9278882D6386}"/>
              </a:ext>
            </a:extLst>
          </p:cNvPr>
          <p:cNvCxnSpPr/>
          <p:nvPr/>
        </p:nvCxnSpPr>
        <p:spPr>
          <a:xfrm>
            <a:off x="576525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B968C7-E434-18F0-FA7E-06D26191ECE2}"/>
              </a:ext>
            </a:extLst>
          </p:cNvPr>
          <p:cNvCxnSpPr/>
          <p:nvPr/>
        </p:nvCxnSpPr>
        <p:spPr>
          <a:xfrm>
            <a:off x="610248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41FA92-1DDB-B530-06CF-42C218644590}"/>
              </a:ext>
            </a:extLst>
          </p:cNvPr>
          <p:cNvSpPr txBox="1"/>
          <p:nvPr/>
        </p:nvSpPr>
        <p:spPr>
          <a:xfrm>
            <a:off x="6566169" y="45190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2. Average Hourly rate of Research Scientist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1F41A-4759-B330-5A81-B41A19F1D14E}"/>
              </a:ext>
            </a:extLst>
          </p:cNvPr>
          <p:cNvSpPr txBox="1"/>
          <p:nvPr/>
        </p:nvSpPr>
        <p:spPr>
          <a:xfrm>
            <a:off x="6566170" y="1487010"/>
            <a:ext cx="4941650" cy="1477328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JobRole , Gender, concat(round(AVG(HourlyRate), 2), ' %’) </a:t>
            </a:r>
          </a:p>
          <a:p>
            <a:r>
              <a:rPr lang="en-US" dirty="0"/>
              <a:t>as Avg_Hourly_Rate FROM employeedata group by JobRole , Gender having JobRole </a:t>
            </a:r>
          </a:p>
          <a:p>
            <a:r>
              <a:rPr lang="en-US" dirty="0"/>
              <a:t>= 'Research Scientist';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43C6B92-C305-BEE9-A049-4AF96D011F93}"/>
              </a:ext>
            </a:extLst>
          </p:cNvPr>
          <p:cNvGrpSpPr/>
          <p:nvPr/>
        </p:nvGrpSpPr>
        <p:grpSpPr>
          <a:xfrm>
            <a:off x="7064259" y="3814773"/>
            <a:ext cx="4112822" cy="2185375"/>
            <a:chOff x="6322979" y="3499844"/>
            <a:chExt cx="4601171" cy="200601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BDB478A-42E6-BAE7-B5F0-7D42D9393E3C}"/>
                </a:ext>
              </a:extLst>
            </p:cNvPr>
            <p:cNvSpPr/>
            <p:nvPr/>
          </p:nvSpPr>
          <p:spPr>
            <a:xfrm>
              <a:off x="6322979" y="3499844"/>
              <a:ext cx="4601171" cy="2006011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2815E224-5297-2FAE-61C2-A7916D6CC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06" t="54207" r="58829" b="37866"/>
            <a:stretch>
              <a:fillRect/>
            </a:stretch>
          </p:blipFill>
          <p:spPr>
            <a:xfrm>
              <a:off x="6485108" y="3788924"/>
              <a:ext cx="4283412" cy="13822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938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9E86-3D9A-43CB-538F-025111AB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888FA-F20B-F218-16AC-7BE2C3752810}"/>
              </a:ext>
            </a:extLst>
          </p:cNvPr>
          <p:cNvSpPr txBox="1"/>
          <p:nvPr/>
        </p:nvSpPr>
        <p:spPr>
          <a:xfrm>
            <a:off x="586157" y="840708"/>
            <a:ext cx="11019686" cy="3139321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CASE  WHEN MonthlyIncome &lt; 10000 THEN '&lt;10K'    </a:t>
            </a:r>
          </a:p>
          <a:p>
            <a:r>
              <a:rPr lang="en-US" dirty="0"/>
              <a:t>WHEN MonthlyIncome BETWEEN 10000 AND 19999 THEN '10K–20K’   </a:t>
            </a:r>
          </a:p>
          <a:p>
            <a:r>
              <a:rPr lang="en-US" dirty="0"/>
              <a:t>WHEN MonthlyIncome BETWEEN 20000 AND 29999 THEN '20K–30K'        </a:t>
            </a:r>
          </a:p>
          <a:p>
            <a:r>
              <a:rPr lang="en-US" dirty="0"/>
              <a:t>WHEN MonthlyIncome BETWEEN 30000 AND 39999 THEN '30K–40K'        </a:t>
            </a:r>
          </a:p>
          <a:p>
            <a:r>
              <a:rPr lang="en-US" dirty="0"/>
              <a:t>WHEN MonthlyIncome BETWEEN 40000 AND 49999 THEN '40K–50K'        </a:t>
            </a:r>
          </a:p>
          <a:p>
            <a:r>
              <a:rPr lang="en-US" dirty="0"/>
              <a:t>ELSE '50K+’    END AS Income_Band,    </a:t>
            </a:r>
          </a:p>
          <a:p>
            <a:r>
              <a:rPr lang="en-US" dirty="0"/>
              <a:t>CONCAT(ROUND(COUNT(*) / 1000, 2), ' K') AS Total_Employees,    </a:t>
            </a:r>
          </a:p>
          <a:p>
            <a:r>
              <a:rPr lang="en-US" dirty="0"/>
              <a:t>CONCAT(ROUND(SUM(CASE WHEN Attrition = 'Yes' THEN 1 ELSE 0 END) / 1000, 2), ' K') AS Attrited_Employees, </a:t>
            </a:r>
          </a:p>
          <a:p>
            <a:r>
              <a:rPr lang="en-US" dirty="0"/>
              <a:t>CONCAT(ROUND((SUM(CASE WHEN Attrition = 'Yes' THEN 1 ELSE 0 END) * 100.0) / COUNT(*), 2), ' %') AS Attrition_Rate FROM Employeedata GROUP BY Income_Band ORDER BY MIN(MonthlyIncome);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F21A8-72CA-8D01-C18C-A7B6AE2D9F31}"/>
              </a:ext>
            </a:extLst>
          </p:cNvPr>
          <p:cNvSpPr txBox="1"/>
          <p:nvPr/>
        </p:nvSpPr>
        <p:spPr>
          <a:xfrm>
            <a:off x="3294963" y="188273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3. Attrition rate Vs Monthly income stats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E3E83B-FD5C-B9F2-E485-035C05629655}"/>
              </a:ext>
            </a:extLst>
          </p:cNvPr>
          <p:cNvGrpSpPr/>
          <p:nvPr/>
        </p:nvGrpSpPr>
        <p:grpSpPr>
          <a:xfrm>
            <a:off x="3212277" y="4198901"/>
            <a:ext cx="5107021" cy="2470826"/>
            <a:chOff x="6996339" y="2611876"/>
            <a:chExt cx="5107021" cy="247082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5EB9DE5-7ABE-A1B5-2AE2-83508B3FC0F0}"/>
                </a:ext>
              </a:extLst>
            </p:cNvPr>
            <p:cNvSpPr/>
            <p:nvPr/>
          </p:nvSpPr>
          <p:spPr>
            <a:xfrm>
              <a:off x="6996339" y="2611876"/>
              <a:ext cx="5107021" cy="247082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987D8B9-604E-4DEE-58D6-DE9A6CB2B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87" t="54613" r="50052" b="29209"/>
            <a:stretch>
              <a:fillRect/>
            </a:stretch>
          </p:blipFill>
          <p:spPr>
            <a:xfrm>
              <a:off x="7222227" y="2830748"/>
              <a:ext cx="4655246" cy="20330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678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8E70-9132-8FFC-FAD0-C83C9C48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BCFA32-42ED-E9CD-32E2-32A9F44C4B58}"/>
              </a:ext>
            </a:extLst>
          </p:cNvPr>
          <p:cNvSpPr/>
          <p:nvPr/>
        </p:nvSpPr>
        <p:spPr>
          <a:xfrm>
            <a:off x="6896913" y="3428999"/>
            <a:ext cx="4114794" cy="275779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3F3BF4-0EE8-F04F-D449-BE886384C5E0}"/>
              </a:ext>
            </a:extLst>
          </p:cNvPr>
          <p:cNvSpPr/>
          <p:nvPr/>
        </p:nvSpPr>
        <p:spPr>
          <a:xfrm>
            <a:off x="486383" y="3706238"/>
            <a:ext cx="4299624" cy="221790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6E541-3ECD-9191-8C13-3B1A6F3532F4}"/>
              </a:ext>
            </a:extLst>
          </p:cNvPr>
          <p:cNvSpPr txBox="1"/>
          <p:nvPr/>
        </p:nvSpPr>
        <p:spPr>
          <a:xfrm>
            <a:off x="486383" y="1487010"/>
            <a:ext cx="5029189" cy="1477328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   Department,    CONCAT(ROUND(AVG(YearsAtCompany), 2), ' Years') AS avg_working_years FROM employeedata GROUP BY Department order by avg_working_years desc;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D11AB-FB7C-11E2-EA52-5D5208CEAB17}"/>
              </a:ext>
            </a:extLst>
          </p:cNvPr>
          <p:cNvSpPr txBox="1"/>
          <p:nvPr/>
        </p:nvSpPr>
        <p:spPr>
          <a:xfrm>
            <a:off x="486383" y="44492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4. Average working years for each Dept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67851-16DD-2BE7-C30E-BA59E7B1E81E}"/>
              </a:ext>
            </a:extLst>
          </p:cNvPr>
          <p:cNvCxnSpPr/>
          <p:nvPr/>
        </p:nvCxnSpPr>
        <p:spPr>
          <a:xfrm>
            <a:off x="576525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D2D97B-777B-DA74-9602-38C4550A1AE0}"/>
              </a:ext>
            </a:extLst>
          </p:cNvPr>
          <p:cNvCxnSpPr/>
          <p:nvPr/>
        </p:nvCxnSpPr>
        <p:spPr>
          <a:xfrm>
            <a:off x="610248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A7D638-17E0-6C84-D95E-EDBA5A3F4088}"/>
              </a:ext>
            </a:extLst>
          </p:cNvPr>
          <p:cNvSpPr txBox="1"/>
          <p:nvPr/>
        </p:nvSpPr>
        <p:spPr>
          <a:xfrm>
            <a:off x="6566169" y="45190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5. Job Role Vs Work life balance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95BA5-935B-7CCF-D517-6C8D0520BB19}"/>
              </a:ext>
            </a:extLst>
          </p:cNvPr>
          <p:cNvSpPr txBox="1"/>
          <p:nvPr/>
        </p:nvSpPr>
        <p:spPr>
          <a:xfrm>
            <a:off x="6566170" y="1487010"/>
            <a:ext cx="4863828" cy="1200329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JobRole,    REPEAT('⭐', ROUND(AVG(WorkLifeBalance))) AS avg_work_life_balance FROM employeedata GROUP BY JobRole;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B85BEFD6-CF64-63DE-CDE6-E58C2E13A8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98F80F-FA2F-1C56-9F63-EE427836B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6" t="54044" r="58192" b="20159"/>
          <a:stretch>
            <a:fillRect/>
          </a:stretch>
        </p:blipFill>
        <p:spPr>
          <a:xfrm>
            <a:off x="7247105" y="3680622"/>
            <a:ext cx="3319995" cy="224352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C54B2A-0AAE-AC8C-B2B7-E939F53B3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7" t="54045" r="60106" b="29068"/>
          <a:stretch>
            <a:fillRect/>
          </a:stretch>
        </p:blipFill>
        <p:spPr>
          <a:xfrm>
            <a:off x="894945" y="3983957"/>
            <a:ext cx="3449078" cy="164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08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79ECA-CAFD-736F-E3EE-ACA7AAE9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004458-BC34-C653-05A1-11473A0686DC}"/>
              </a:ext>
            </a:extLst>
          </p:cNvPr>
          <p:cNvSpPr/>
          <p:nvPr/>
        </p:nvSpPr>
        <p:spPr>
          <a:xfrm>
            <a:off x="3842426" y="3968885"/>
            <a:ext cx="4581727" cy="23930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6111F-AA91-04B3-D465-1D0C09914089}"/>
              </a:ext>
            </a:extLst>
          </p:cNvPr>
          <p:cNvSpPr txBox="1"/>
          <p:nvPr/>
        </p:nvSpPr>
        <p:spPr>
          <a:xfrm>
            <a:off x="1076528" y="1204909"/>
            <a:ext cx="10038943" cy="2308324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  CASE        </a:t>
            </a:r>
          </a:p>
          <a:p>
            <a:r>
              <a:rPr lang="en-US" dirty="0"/>
              <a:t>WHEN YearsSinceLastPromotion &lt; 10 THEN '&lt;10 years'        </a:t>
            </a:r>
          </a:p>
          <a:p>
            <a:r>
              <a:rPr lang="en-US" dirty="0"/>
              <a:t>WHEN YearsSinceLastPromotion &lt; 20 THEN '&lt;20 years'        </a:t>
            </a:r>
          </a:p>
          <a:p>
            <a:r>
              <a:rPr lang="en-US" dirty="0"/>
              <a:t>WHEN YearsSinceLastPromotion &lt; 30 THEN '&lt;30 years'        </a:t>
            </a:r>
          </a:p>
          <a:p>
            <a:r>
              <a:rPr lang="en-US" dirty="0"/>
              <a:t>ELSE '=&lt;40 years'    END AS Promotion_Band,    </a:t>
            </a:r>
          </a:p>
          <a:p>
            <a:r>
              <a:rPr lang="en-US" dirty="0"/>
              <a:t>concat(round((SUM(CASE WHEN Attrition = 'Yes' THEN 1 ELSE 0 END) * 100.0) / COUNT(*),        2)," %" ) AS Attrition_Rate FROM Employeedata GROUP BY Promotion_Band </a:t>
            </a:r>
          </a:p>
          <a:p>
            <a:r>
              <a:rPr lang="en-US" dirty="0"/>
              <a:t>ORDER BY MIN(YearsSinceLastPromotion);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1098-F95B-6792-4804-87F15FACEC43}"/>
              </a:ext>
            </a:extLst>
          </p:cNvPr>
          <p:cNvSpPr txBox="1"/>
          <p:nvPr/>
        </p:nvSpPr>
        <p:spPr>
          <a:xfrm>
            <a:off x="3143655" y="211466"/>
            <a:ext cx="5904689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6. Attrition rate Vs Year since last promotion relation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3B8580-F730-C8E3-1891-238D99BE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6" t="54470" r="64574" b="33325"/>
          <a:stretch>
            <a:fillRect/>
          </a:stretch>
        </p:blipFill>
        <p:spPr>
          <a:xfrm>
            <a:off x="4129201" y="4241259"/>
            <a:ext cx="3933597" cy="178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1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F885-975D-2D70-FA78-A074FB9E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2D3824-B8C4-E212-4E4D-101A7A520608}"/>
              </a:ext>
            </a:extLst>
          </p:cNvPr>
          <p:cNvSpPr/>
          <p:nvPr/>
        </p:nvSpPr>
        <p:spPr>
          <a:xfrm>
            <a:off x="1131650" y="3630107"/>
            <a:ext cx="3907266" cy="23920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449622-E2A0-6745-7302-50433CC80317}"/>
              </a:ext>
            </a:extLst>
          </p:cNvPr>
          <p:cNvSpPr/>
          <p:nvPr/>
        </p:nvSpPr>
        <p:spPr>
          <a:xfrm>
            <a:off x="6965008" y="3630107"/>
            <a:ext cx="4095342" cy="23920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3547C-E768-BA6E-D0B7-A188E858E62A}"/>
              </a:ext>
            </a:extLst>
          </p:cNvPr>
          <p:cNvSpPr txBox="1"/>
          <p:nvPr/>
        </p:nvSpPr>
        <p:spPr>
          <a:xfrm>
            <a:off x="486385" y="1487010"/>
            <a:ext cx="4941650" cy="1754326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Department , CONCAT(ROUND(SUM(EmployeeCount)/1000, 2), ' K') AS Emp_Count </a:t>
            </a:r>
          </a:p>
          <a:p>
            <a:r>
              <a:rPr lang="en-US" dirty="0"/>
              <a:t>FROM employeedata </a:t>
            </a:r>
          </a:p>
          <a:p>
            <a:r>
              <a:rPr lang="en-US" dirty="0"/>
              <a:t>GROUP BY Department order by </a:t>
            </a:r>
          </a:p>
          <a:p>
            <a:r>
              <a:rPr lang="en-US" dirty="0"/>
              <a:t>Emp_Count desc;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7B779-A9DA-6EFC-C473-BFED7D583071}"/>
              </a:ext>
            </a:extLst>
          </p:cNvPr>
          <p:cNvSpPr txBox="1"/>
          <p:nvPr/>
        </p:nvSpPr>
        <p:spPr>
          <a:xfrm>
            <a:off x="486383" y="44492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7. Department wise No of Employees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07AF1-108F-6589-7498-26F8BFD4C19A}"/>
              </a:ext>
            </a:extLst>
          </p:cNvPr>
          <p:cNvCxnSpPr/>
          <p:nvPr/>
        </p:nvCxnSpPr>
        <p:spPr>
          <a:xfrm>
            <a:off x="576525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C5F8A8-6E8D-4E6D-3A11-FAFFA4E54495}"/>
              </a:ext>
            </a:extLst>
          </p:cNvPr>
          <p:cNvCxnSpPr/>
          <p:nvPr/>
        </p:nvCxnSpPr>
        <p:spPr>
          <a:xfrm>
            <a:off x="610248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A77623-2DA9-14C4-1467-3402D6EAC8C4}"/>
              </a:ext>
            </a:extLst>
          </p:cNvPr>
          <p:cNvSpPr txBox="1"/>
          <p:nvPr/>
        </p:nvSpPr>
        <p:spPr>
          <a:xfrm>
            <a:off x="6566169" y="45190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8. Gender based Percentage of Employee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79058-BEF3-8CDA-E6A8-B5144A704017}"/>
              </a:ext>
            </a:extLst>
          </p:cNvPr>
          <p:cNvSpPr txBox="1"/>
          <p:nvPr/>
        </p:nvSpPr>
        <p:spPr>
          <a:xfrm>
            <a:off x="6566170" y="1487010"/>
            <a:ext cx="4941650" cy="1477328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Gender,     CONCAT(FORMAT((COUNT(Gender) * 100.0 / (SELECT COUNT(*) FROM employeedata)), 2), ' %') AS % of Total_Employees</a:t>
            </a:r>
          </a:p>
          <a:p>
            <a:r>
              <a:rPr lang="en-US" dirty="0"/>
              <a:t>FROM employeedata GROUP BY Gender;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C1D9A3-E2F4-E28D-F6F3-B5A1331DB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5" t="51490" r="64734" b="36306"/>
          <a:stretch>
            <a:fillRect/>
          </a:stretch>
        </p:blipFill>
        <p:spPr>
          <a:xfrm>
            <a:off x="7370539" y="3971543"/>
            <a:ext cx="3352365" cy="156689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FE3EB9-C121-B51D-AE34-6A148EFBE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6" t="54470" r="63218" b="29209"/>
          <a:stretch>
            <a:fillRect/>
          </a:stretch>
        </p:blipFill>
        <p:spPr>
          <a:xfrm>
            <a:off x="1469096" y="3914085"/>
            <a:ext cx="3175284" cy="176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00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3D36-404B-01FE-FF36-E0BF99CA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8199C4-65FA-F1EC-9661-152E964BA7AB}"/>
              </a:ext>
            </a:extLst>
          </p:cNvPr>
          <p:cNvSpPr/>
          <p:nvPr/>
        </p:nvSpPr>
        <p:spPr>
          <a:xfrm>
            <a:off x="807395" y="3360088"/>
            <a:ext cx="4095342" cy="291829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B7029F-AE9C-9EDF-C88C-AE62ACBDA687}"/>
              </a:ext>
            </a:extLst>
          </p:cNvPr>
          <p:cNvSpPr/>
          <p:nvPr/>
        </p:nvSpPr>
        <p:spPr>
          <a:xfrm>
            <a:off x="6965008" y="3696210"/>
            <a:ext cx="4095342" cy="20431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FC61C-EFD6-F7E2-C7D5-D7CB88980C12}"/>
              </a:ext>
            </a:extLst>
          </p:cNvPr>
          <p:cNvSpPr txBox="1"/>
          <p:nvPr/>
        </p:nvSpPr>
        <p:spPr>
          <a:xfrm>
            <a:off x="486385" y="1487010"/>
            <a:ext cx="4941650" cy="1200329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JobRole as Job_Role,    </a:t>
            </a:r>
          </a:p>
          <a:p>
            <a:r>
              <a:rPr lang="en-US" dirty="0"/>
              <a:t>REPEAT('⭐', ROUND(AVG(JobSatisfaction))) AS Job_Satisfaction</a:t>
            </a:r>
          </a:p>
          <a:p>
            <a:r>
              <a:rPr lang="en-US" dirty="0"/>
              <a:t>FROM employeedata GROUP BY JobRole;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28507-2C45-2B35-BD47-E3D37AC27B42}"/>
              </a:ext>
            </a:extLst>
          </p:cNvPr>
          <p:cNvSpPr txBox="1"/>
          <p:nvPr/>
        </p:nvSpPr>
        <p:spPr>
          <a:xfrm>
            <a:off x="486383" y="44492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9. Job Role wise job satisfaction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EF2C02-C68B-C74F-9737-3F3A93A0F9CB}"/>
              </a:ext>
            </a:extLst>
          </p:cNvPr>
          <p:cNvCxnSpPr/>
          <p:nvPr/>
        </p:nvCxnSpPr>
        <p:spPr>
          <a:xfrm>
            <a:off x="576525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E8DE3F-1330-DB59-89E8-2D2887F21FB9}"/>
              </a:ext>
            </a:extLst>
          </p:cNvPr>
          <p:cNvCxnSpPr/>
          <p:nvPr/>
        </p:nvCxnSpPr>
        <p:spPr>
          <a:xfrm>
            <a:off x="610248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AD3B3C-3A3A-F348-12E5-C2B4C11A3D15}"/>
              </a:ext>
            </a:extLst>
          </p:cNvPr>
          <p:cNvSpPr txBox="1"/>
          <p:nvPr/>
        </p:nvSpPr>
        <p:spPr>
          <a:xfrm>
            <a:off x="6566169" y="451909"/>
            <a:ext cx="4941651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b="1" dirty="0"/>
              <a:t>10. Total employees based on marital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C5B63-8012-B5E2-86EC-BF961E4C7527}"/>
              </a:ext>
            </a:extLst>
          </p:cNvPr>
          <p:cNvSpPr txBox="1"/>
          <p:nvPr/>
        </p:nvSpPr>
        <p:spPr>
          <a:xfrm>
            <a:off x="6566170" y="1487010"/>
            <a:ext cx="4941650" cy="1477328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 MaritalStatus,    CONCAT(ROUND(COUNT(EmployeeID) / 1000, 2), ' K') AS Total_Employees</a:t>
            </a:r>
          </a:p>
          <a:p>
            <a:r>
              <a:rPr lang="en-US" dirty="0"/>
              <a:t>FROM employeedata </a:t>
            </a:r>
          </a:p>
          <a:p>
            <a:r>
              <a:rPr lang="en-US" dirty="0"/>
              <a:t>GROUP BY MaritalStatus;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3CABB9-5C07-4016-C89E-10816931D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5" t="54754" r="59788" b="20269"/>
          <a:stretch>
            <a:fillRect/>
          </a:stretch>
        </p:blipFill>
        <p:spPr>
          <a:xfrm>
            <a:off x="1268931" y="3696210"/>
            <a:ext cx="3152114" cy="224605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A8256E-F4A5-E81D-C719-C5123FC85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6" t="54897" r="64414" b="35311"/>
          <a:stretch>
            <a:fillRect/>
          </a:stretch>
        </p:blipFill>
        <p:spPr>
          <a:xfrm>
            <a:off x="7393022" y="4102791"/>
            <a:ext cx="3308668" cy="11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81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8EFB-95E0-5EB2-8077-E6A2388D3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8" y="1288912"/>
            <a:ext cx="9523377" cy="506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Based on the all analysis, the following strategic suggestions can be made to improve retention: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Review compensation structures</a:t>
            </a:r>
            <a:r>
              <a:rPr lang="en-US" sz="2000" dirty="0">
                <a:solidFill>
                  <a:schemeClr val="tx1"/>
                </a:solidFill>
                <a:latin typeface="Amasis MT Pro" panose="02040504050005020304" pitchFamily="18" charset="0"/>
              </a:rPr>
              <a:t>: Conduct a market analysis to ensure competitive and fair compensation for all roles, with adjustments made where necessary.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Enhance career development programs</a:t>
            </a:r>
            <a:r>
              <a:rPr lang="en-US" sz="2000" dirty="0">
                <a:solidFill>
                  <a:schemeClr val="tx1"/>
                </a:solidFill>
                <a:latin typeface="Amasis MT Pro" panose="02040504050005020304" pitchFamily="18" charset="0"/>
              </a:rPr>
              <a:t>: Create clear career pathways and continuous learning and development opportunities.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Improve work-life balance</a:t>
            </a:r>
            <a:r>
              <a:rPr lang="en-US" sz="2000" dirty="0">
                <a:solidFill>
                  <a:schemeClr val="tx1"/>
                </a:solidFill>
                <a:latin typeface="Amasis MT Pro" panose="02040504050005020304" pitchFamily="18" charset="0"/>
              </a:rPr>
              <a:t>: Implement policies that support flexible work schedules, telecommuting options, and ensure workloads are manageable.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Refine onboarding processes</a:t>
            </a:r>
            <a:r>
              <a:rPr lang="en-US" sz="2000" dirty="0">
                <a:solidFill>
                  <a:schemeClr val="tx1"/>
                </a:solidFill>
                <a:latin typeface="Amasis MT Pro" panose="02040504050005020304" pitchFamily="18" charset="0"/>
              </a:rPr>
              <a:t>: Strengthen the onboarding program to better integrate new hires into the company culture and clarify role expectations.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2000" b="1" dirty="0">
                <a:solidFill>
                  <a:schemeClr val="tx1"/>
                </a:solidFill>
                <a:latin typeface="Amasis MT Pro" panose="02040504050005020304" pitchFamily="18" charset="0"/>
              </a:rPr>
              <a:t>Leadership training</a:t>
            </a:r>
            <a:r>
              <a:rPr lang="en-US" sz="2000" dirty="0">
                <a:solidFill>
                  <a:schemeClr val="tx1"/>
                </a:solidFill>
                <a:latin typeface="Amasis MT Pro" panose="02040504050005020304" pitchFamily="18" charset="0"/>
              </a:rPr>
              <a:t>: Train managers and leaders in effective people management, focusing on communication, feedback, and recognition.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A74FE8-5859-A5DD-326D-95560382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535" y="257786"/>
            <a:ext cx="3758930" cy="671205"/>
          </a:xfr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masis MT Pro" panose="02040504050005020304" pitchFamily="18" charset="0"/>
                <a:ea typeface="+mn-ea"/>
                <a:cs typeface="+mn-cs"/>
              </a:rPr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241300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0BC8-AED6-5E75-22A4-3A132F31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B007C-2740-6267-FE0D-CF84A1FD1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44" y="1429966"/>
            <a:ext cx="8346331" cy="30861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Amasis MT Pro" panose="02040504050005020304" pitchFamily="18" charset="0"/>
              </a:rPr>
              <a:t>By applying the findings across HR functions—</a:t>
            </a:r>
          </a:p>
          <a:p>
            <a:pPr marL="0" indent="0">
              <a:buNone/>
            </a:pPr>
            <a:endParaRPr lang="en-US" sz="2000" b="1" dirty="0">
              <a:latin typeface="Amasis MT Pro" panose="020405040500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latin typeface="Amasis MT Pro" panose="02040504050005020304" pitchFamily="18" charset="0"/>
              </a:rPr>
              <a:t>Compensation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latin typeface="Amasis MT Pro" panose="02040504050005020304" pitchFamily="18" charset="0"/>
              </a:rPr>
              <a:t>Training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latin typeface="Amasis MT Pro" panose="02040504050005020304" pitchFamily="18" charset="0"/>
              </a:rPr>
              <a:t>Planning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latin typeface="Amasis MT Pro" panose="02040504050005020304" pitchFamily="18" charset="0"/>
              </a:rPr>
              <a:t>Culture building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000" b="1" dirty="0">
              <a:latin typeface="Amasis MT Pro" panose="020405040500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Amasis MT Pro" panose="02040504050005020304" pitchFamily="18" charset="0"/>
              </a:rPr>
              <a:t>Organizations can greatly improve retention and build a stronger workforce.</a:t>
            </a:r>
            <a:endParaRPr lang="en-US" sz="2000" b="1" dirty="0">
              <a:solidFill>
                <a:schemeClr val="tx1"/>
              </a:solidFill>
              <a:latin typeface="Amasis MT Pro" panose="020405040500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0569D1-01BB-0069-91FC-87FC7DAF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535" y="257786"/>
            <a:ext cx="3758930" cy="671205"/>
          </a:xfr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masis MT Pro" panose="02040504050005020304" pitchFamily="18" charset="0"/>
                <a:ea typeface="+mn-ea"/>
                <a:cs typeface="+mn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78552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38864-C9C5-0379-7F1E-924B2ED269B1}"/>
              </a:ext>
            </a:extLst>
          </p:cNvPr>
          <p:cNvSpPr txBox="1"/>
          <p:nvPr/>
        </p:nvSpPr>
        <p:spPr>
          <a:xfrm>
            <a:off x="1819073" y="2245095"/>
            <a:ext cx="7478950" cy="1616785"/>
          </a:xfrm>
          <a:prstGeom prst="rect">
            <a:avLst/>
          </a:prstGeom>
          <a:noFill/>
        </p:spPr>
        <p:txBody>
          <a:bodyPr wrap="square" rtlCol="0">
            <a:prstTxWarp prst="textCan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r>
              <a:rPr lang="en-US" sz="8800" dirty="0">
                <a:ln w="28575">
                  <a:solidFill>
                    <a:schemeClr val="tx2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03675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2198</TotalTime>
  <Words>879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Amasis MT Pro</vt:lpstr>
      <vt:lpstr>Arial</vt:lpstr>
      <vt:lpstr>Trebuchet MS</vt:lpstr>
      <vt:lpstr>Wingdings</vt:lpstr>
      <vt:lpstr>Wingdings 3</vt:lpstr>
      <vt:lpstr>Facet</vt:lpstr>
      <vt:lpstr>HR ANALYSIS – EMPLOYEE RETENTION</vt:lpstr>
      <vt:lpstr>OBJECTIVE</vt:lpstr>
      <vt:lpstr>PowerPoint Presentation</vt:lpstr>
      <vt:lpstr>EXCEL DASHBOARD</vt:lpstr>
      <vt:lpstr>POWER BI DASHBOARD</vt:lpstr>
      <vt:lpstr>PowerPoint Presentation</vt:lpstr>
      <vt:lpstr>PowerPoint Presentation</vt:lpstr>
      <vt:lpstr> MYSQL 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SUGGESTIONS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Gupta</dc:creator>
  <cp:lastModifiedBy>Nandini Gupta</cp:lastModifiedBy>
  <cp:revision>14</cp:revision>
  <dcterms:created xsi:type="dcterms:W3CDTF">2025-11-26T10:29:44Z</dcterms:created>
  <dcterms:modified xsi:type="dcterms:W3CDTF">2025-12-01T16:26:26Z</dcterms:modified>
</cp:coreProperties>
</file>